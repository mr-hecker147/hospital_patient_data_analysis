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Hospital Patient Data Analysis</a:t>
            </a:r>
          </a:p>
          <a:p>
            <a:r>
              <a:rPr sz="1800" b="0" i="0">
                <a:solidFill>
                  <a:srgbClr val="4A77A1"/>
                </a:solidFill>
                <a:latin typeface="Arial"/>
              </a:rPr>
              <a:t>Leveraging Open-Source Analytics (Pandas &amp; NumPy) to Optimize Clinical Efficacy, Cost Variance, and Patient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dirty="0">
                <a:solidFill>
                  <a:srgbClr val="4A77A1"/>
                </a:solidFill>
                <a:latin typeface="Arial"/>
              </a:rPr>
              <a:t>DEVELOPMENT TEAM</a:t>
            </a:r>
          </a:p>
          <a:p>
            <a:pPr>
              <a:spcAft>
                <a:spcPts val="1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1. Uddhav Joshi   |   2. Ujwal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Dhebe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  |   3. Shravani Gole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Secondary Research: Why Clinical Operations Data Auditing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4A77A1"/>
                </a:solidFill>
                <a:latin typeface="Georgia"/>
              </a:rPr>
              <a:t>Operational Overloads</a:t>
            </a:r>
          </a:p>
          <a:p>
            <a:r>
              <a:rPr sz="1300" b="0" i="0">
                <a:solidFill>
                  <a:srgbClr val="182B49"/>
                </a:solidFill>
                <a:latin typeface="Arial"/>
              </a:rPr>
              <a:t>Length of stay variations directly indicate bottle-necked operations. Hospital systems frequently struggle to align bed availability, care transitions, and post-discharge protocols, causing massive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585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DB5856"/>
                </a:solidFill>
                <a:latin typeface="Georgia"/>
              </a:rPr>
              <a:t>Rising Financial Leakage</a:t>
            </a:r>
          </a:p>
          <a:p>
            <a:r>
              <a:rPr sz="1300" b="0" i="0">
                <a:solidFill>
                  <a:srgbClr val="182B49"/>
                </a:solidFill>
                <a:latin typeface="Arial"/>
              </a:rPr>
              <a:t>With medical costs soaring, tracking cost allocations per condition is vital. Undetected financial anomalies in clinical billing or underutilized insurance segments lead to severe annual operational deficits.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7D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 dirty="0">
                <a:solidFill>
                  <a:srgbClr val="2E8B7D"/>
                </a:solidFill>
                <a:latin typeface="Georgia"/>
              </a:rPr>
              <a:t>Patient Retention Loops</a:t>
            </a:r>
          </a:p>
          <a:p>
            <a:r>
              <a:rPr sz="1300" b="0" i="0" dirty="0">
                <a:solidFill>
                  <a:srgbClr val="182B49"/>
                </a:solidFill>
                <a:latin typeface="Arial"/>
              </a:rPr>
              <a:t>Efficiency in patient satisfaction drives long-term reputation and compliance. If high clinical success rates do not match high subjective satisfaction scores, a system suffers from deep operational or communication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Technology Gap: Proprietary Legacy BI vs. Python-Based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585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</a:pPr>
            <a:r>
              <a:rPr sz="1800" b="1" i="0">
                <a:solidFill>
                  <a:srgbClr val="DB5856"/>
                </a:solidFill>
                <a:latin typeface="Georgia"/>
              </a:rPr>
              <a:t>Legacy BI &amp; Spreadsheet Systems (Status Quo)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High Licensing Costs: Proprietary systems like Tableau/PowerBI demand steep user-based recurring fees.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Data Capacity Limits: Legacy Excel sheets crash or choke when importing million-row medical databases.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Manual Iteration Bottleneck: Analysts must manually clean, filter, and compile reports weekly, inducing severe user-error risk.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Static and Isolated: Hard to share reproducible analysis logic across research labs or institutional affiliates.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8232" y="164592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7D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</a:pPr>
            <a:r>
              <a:rPr sz="1800" b="1" i="0">
                <a:solidFill>
                  <a:srgbClr val="2E8B7D"/>
                </a:solidFill>
                <a:latin typeface="Georgia"/>
              </a:rPr>
              <a:t>Our Framework: Open-Source Python Automation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Zero Financial Cost: Relies 100% on free, open-source libraries (Pandas, NumPy, and Matplotlib).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Giga-Scale Performance: Effortlessly manipulates, filters, and standardizes multi-gigabyte files in-memory.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Automated Reproducibility: A single Jupyter notebook cell executes end-to-end data cleaning, analysis, and plotting.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Dynamic and Scalable: Code can be containerized, embedded in automated pipelines, or integrated directly with FHIR/HL7 database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Primary Dataset Profile: Ingesting 984 Standardized Operational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200"/>
              </a:spcAft>
            </a:pPr>
            <a:r>
              <a:rPr sz="2800" b="1" i="0" dirty="0">
                <a:solidFill>
                  <a:srgbClr val="182B49"/>
                </a:solidFill>
                <a:latin typeface="Georgia"/>
              </a:rPr>
              <a:t>984</a:t>
            </a:r>
          </a:p>
          <a:p>
            <a:pPr>
              <a:spcAft>
                <a:spcPts val="600"/>
              </a:spcAft>
            </a:pPr>
            <a:r>
              <a:rPr sz="1000" b="1" i="0" dirty="0">
                <a:solidFill>
                  <a:srgbClr val="4A77A1"/>
                </a:solidFill>
                <a:latin typeface="Arial"/>
              </a:rPr>
              <a:t>Total Patient Records Ingested</a:t>
            </a:r>
          </a:p>
          <a:p>
            <a:r>
              <a:rPr sz="1100" b="0" i="0" dirty="0">
                <a:solidFill>
                  <a:srgbClr val="787878"/>
                </a:solidFill>
                <a:latin typeface="Arial"/>
              </a:rPr>
              <a:t>Extracted and compiled from </a:t>
            </a:r>
            <a:r>
              <a:rPr lang="en-US" sz="1100" b="0" i="0" dirty="0">
                <a:solidFill>
                  <a:srgbClr val="787878"/>
                </a:solidFill>
                <a:latin typeface="Arial"/>
              </a:rPr>
              <a:t>Kaggle due to lack of actual hospital data</a:t>
            </a:r>
            <a:r>
              <a:rPr lang="en-US" sz="1100" dirty="0">
                <a:solidFill>
                  <a:srgbClr val="787878"/>
                </a:solidFill>
                <a:latin typeface="Arial"/>
              </a:rPr>
              <a:t>. But can be considered as original hospital data and can be </a:t>
            </a:r>
            <a:r>
              <a:rPr lang="en-US" sz="1100" dirty="0" err="1">
                <a:solidFill>
                  <a:srgbClr val="787878"/>
                </a:solidFill>
                <a:latin typeface="Arial"/>
              </a:rPr>
              <a:t>analysed</a:t>
            </a:r>
            <a:endParaRPr sz="1100" b="0" i="0" dirty="0">
              <a:solidFill>
                <a:srgbClr val="78787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82B49"/>
                </a:solidFill>
                <a:latin typeface="Georgia"/>
              </a:rPr>
              <a:t>15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Strategic Operational Fields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Includes Patient Demographics, Clinical Conditions, Logistics, Financial Costs, and Satisfaction.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82B49"/>
                </a:solidFill>
                <a:latin typeface="Georgia"/>
              </a:rPr>
              <a:t>38 Days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Median Patient Length of Stay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High inpatient density indicator. Suggests a high volume of complex chronic and surgical admissions.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459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82B49"/>
                </a:solidFill>
                <a:latin typeface="Georgia"/>
              </a:rPr>
              <a:t>35.7%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Insurance Utilization Rate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Points to a significant self-pay burden, highlighting a strong commercial opportunity for custom credit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77295" cy="18288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CORE DATA ENGINE COLUMNS:</a:t>
            </a:r>
          </a:p>
          <a:p>
            <a:r>
              <a:rPr sz="1200" b="0" i="0">
                <a:solidFill>
                  <a:srgbClr val="FFFFFF"/>
                </a:solidFill>
                <a:latin typeface="Arial"/>
              </a:rPr>
              <a:t>Clinical Fields: Patient_ID, Age, Gender, Primary Condition, Prescribed Medication, Outpatient Outcome</a:t>
            </a:r>
            <a:br/>
            <a:r>
              <a:t>Logistics &amp; Admin: Admission_Date, Discharge_Date, Patient_State, Year_of_Admission, Length_of_Stay, Readmission</a:t>
            </a:r>
            <a:br/>
            <a:r>
              <a:t>Financial &amp; Experience: Satisfaction Score (1-5), Insurance_Claimed, Total_Cost (Currency-Free)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Operational Red Flags: Severe Readmission and Critical Care Disconnects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585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2000" b="1" i="0">
                <a:solidFill>
                  <a:srgbClr val="DB5856"/>
                </a:solidFill>
                <a:latin typeface="Georgia"/>
              </a:rPr>
              <a:t>26.8% Patient Readmission Rate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Severe Industry Outlier: A 26.8% readmission rate indicates immediate financial and clinical risk, far exceeding modern healthcare quality standards.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Cost Inefficiencies: Hospital stays are longer, which means resources are being used on repeat treatments rather than new admissions.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Root-Cause Indicators: High re-admission for conditions like Stroke and Heart Attacks suggest premature discharges or lack of systematic post-discharge follow-ups.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8232" y="164592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2000" b="1" i="0">
                <a:solidFill>
                  <a:srgbClr val="4A77A1"/>
                </a:solidFill>
                <a:latin typeface="Georgia"/>
              </a:rPr>
              <a:t>A Critical Care Quality Disconnect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Perfect Scores for Mild Conditions: Outpatients treated for Allergic Reactions and Fractured Arms report highly positive satisfaction of 5.0/5.0.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Alarming Fails in High-Risk Care: Average satisfaction drops to 2.0/5.0 for life-threatening Stroke and Heart Attack admissions.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Systemic Problem: Despite being marked as 'Recovered' or 'Stable', severe-tier patients feel highly unsatisfied, revealing gaps in empathy or amenity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 dirty="0">
                <a:solidFill>
                  <a:srgbClr val="182B49"/>
                </a:solidFill>
                <a:latin typeface="Georgia"/>
              </a:rPr>
              <a:t>Financial Profile: Complex Care Drives High Cost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1" i="0" dirty="0">
                <a:solidFill>
                  <a:srgbClr val="4A77A1"/>
                </a:solidFill>
                <a:latin typeface="Arial"/>
              </a:rPr>
              <a:t>FINANCIAL INSIGHTS</a:t>
            </a:r>
          </a:p>
          <a:p>
            <a:pPr>
              <a:spcAft>
                <a:spcPts val="1200"/>
              </a:spcAft>
            </a:pPr>
            <a:r>
              <a:rPr sz="1300" b="0" i="0" dirty="0">
                <a:solidFill>
                  <a:srgbClr val="182B49"/>
                </a:solidFill>
                <a:latin typeface="Arial"/>
              </a:rPr>
              <a:t>• Steep Tiering structure: Chronic and surgical admissions dominate the cost distribution. Cancer costs peak at a fixed </a:t>
            </a:r>
            <a:r>
              <a:rPr lang="en-US" sz="1300" b="0" i="0" dirty="0">
                <a:solidFill>
                  <a:srgbClr val="182B49"/>
                </a:solidFill>
                <a:latin typeface="Arial"/>
              </a:rPr>
              <a:t>$</a:t>
            </a:r>
            <a:r>
              <a:rPr sz="1300" b="0" i="0" dirty="0">
                <a:solidFill>
                  <a:srgbClr val="182B49"/>
                </a:solidFill>
                <a:latin typeface="Arial"/>
              </a:rPr>
              <a:t>25,000 per patient, Prostate Cancer at </a:t>
            </a:r>
            <a:r>
              <a:rPr lang="en-US" sz="1300" b="0" i="0" dirty="0">
                <a:solidFill>
                  <a:srgbClr val="182B49"/>
                </a:solidFill>
                <a:latin typeface="Arial"/>
              </a:rPr>
              <a:t>$</a:t>
            </a:r>
            <a:r>
              <a:rPr sz="1300" b="0" i="0" dirty="0">
                <a:solidFill>
                  <a:srgbClr val="182B49"/>
                </a:solidFill>
                <a:latin typeface="Arial"/>
              </a:rPr>
              <a:t>20,000, and Heart Attack at </a:t>
            </a:r>
            <a:r>
              <a:rPr lang="en-US" sz="1300" b="0" i="0" dirty="0">
                <a:solidFill>
                  <a:srgbClr val="182B49"/>
                </a:solidFill>
                <a:latin typeface="Arial"/>
              </a:rPr>
              <a:t>$</a:t>
            </a:r>
            <a:r>
              <a:rPr sz="1300" b="0" i="0" dirty="0">
                <a:solidFill>
                  <a:srgbClr val="182B49"/>
                </a:solidFill>
                <a:latin typeface="Arial"/>
              </a:rPr>
              <a:t>18,000.</a:t>
            </a:r>
          </a:p>
          <a:p>
            <a:pPr>
              <a:spcAft>
                <a:spcPts val="1200"/>
              </a:spcAft>
            </a:pPr>
            <a:r>
              <a:rPr sz="1300" b="0" i="0" dirty="0">
                <a:solidFill>
                  <a:srgbClr val="182B49"/>
                </a:solidFill>
                <a:latin typeface="Arial"/>
              </a:rPr>
              <a:t>• Minor Treatment Offsets: General infections (Respiratory at </a:t>
            </a:r>
            <a:r>
              <a:rPr lang="en-US" sz="1300" b="0" i="0" dirty="0">
                <a:solidFill>
                  <a:srgbClr val="182B49"/>
                </a:solidFill>
                <a:latin typeface="Arial"/>
              </a:rPr>
              <a:t>$</a:t>
            </a:r>
            <a:r>
              <a:rPr sz="1300" b="0" i="0" dirty="0">
                <a:solidFill>
                  <a:srgbClr val="182B49"/>
                </a:solidFill>
                <a:latin typeface="Arial"/>
              </a:rPr>
              <a:t>800) and minor fractures (Arm at </a:t>
            </a:r>
            <a:r>
              <a:rPr lang="en-US" sz="1300" b="0" i="0" dirty="0">
                <a:solidFill>
                  <a:srgbClr val="182B49"/>
                </a:solidFill>
                <a:latin typeface="Arial"/>
              </a:rPr>
              <a:t>$</a:t>
            </a:r>
            <a:r>
              <a:rPr sz="1300" b="0" i="0" dirty="0">
                <a:solidFill>
                  <a:srgbClr val="182B49"/>
                </a:solidFill>
                <a:latin typeface="Arial"/>
              </a:rPr>
              <a:t>500) operate at highly accessible, flat price-points.</a:t>
            </a:r>
          </a:p>
          <a:p>
            <a:pPr>
              <a:spcAft>
                <a:spcPts val="1200"/>
              </a:spcAft>
            </a:pPr>
            <a:r>
              <a:rPr sz="1300" b="0" i="0" dirty="0">
                <a:solidFill>
                  <a:srgbClr val="182B49"/>
                </a:solidFill>
                <a:latin typeface="Arial"/>
              </a:rPr>
              <a:t>• Budget Implications: Resource planning must focus capital on the highly volatile, high-cost surgical segments to manage annual hospital balance sheets.</a:t>
            </a:r>
          </a:p>
        </p:txBody>
      </p:sp>
      <p:pic>
        <p:nvPicPr>
          <p:cNvPr id="5" name="Picture 4" descr="co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Operational Disconnect: Critically Low Patient Ratings in Severe 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1" i="0">
                <a:solidFill>
                  <a:srgbClr val="4A77A1"/>
                </a:solidFill>
                <a:latin typeface="Arial"/>
              </a:rPr>
              <a:t>EXPERIENCE RE-ENGINEERING</a:t>
            </a:r>
          </a:p>
          <a:p>
            <a:pPr>
              <a:spcAft>
                <a:spcPts val="12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Severe Disconnect: Life-or-death situations (Stroke &amp; Heart Attack) receive the lowest ratings (2.0/5.0), despite patients surviving and being clinically discharged.</a:t>
            </a:r>
          </a:p>
          <a:p>
            <a:pPr>
              <a:spcAft>
                <a:spcPts val="12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Operational Bottlenecks: Highly technical medical processes lack basic patient-centered amenities, communication, or follow-up reassurance.</a:t>
            </a:r>
          </a:p>
          <a:p>
            <a:pPr>
              <a:spcAft>
                <a:spcPts val="1200"/>
              </a:spcAft>
            </a:pPr>
            <a:r>
              <a:rPr sz="1300" b="0" i="0">
                <a:solidFill>
                  <a:srgbClr val="182B49"/>
                </a:solidFill>
                <a:latin typeface="Arial"/>
              </a:rPr>
              <a:t>• Audit Recommendation: Immediately launch specialized nurse-led counseling and patient feedback loops inside critical care departments.</a:t>
            </a:r>
          </a:p>
        </p:txBody>
      </p:sp>
      <p:pic>
        <p:nvPicPr>
          <p:cNvPr id="5" name="Picture 4" descr="satisfac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Technical Architecture: Automated, In-Memory Data Engineering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06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4A77A1"/>
                </a:solidFill>
                <a:latin typeface="Georgia"/>
              </a:rPr>
              <a:t>1. Ingestion</a:t>
            </a:r>
          </a:p>
          <a:p>
            <a:pPr>
              <a:spcAft>
                <a:spcPts val="1000"/>
              </a:spcAft>
            </a:pPr>
            <a:r>
              <a:rPr sz="1200" b="1" i="0">
                <a:solidFill>
                  <a:srgbClr val="182B49"/>
                </a:solidFill>
                <a:latin typeface="Arial"/>
              </a:rPr>
              <a:t>Read raw hospital.csv via Pandas DataFrame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Whitespace removal on columns at load time to avoid key match errors.</a:t>
            </a:r>
          </a:p>
        </p:txBody>
      </p:sp>
      <p:sp>
        <p:nvSpPr>
          <p:cNvPr id="5" name="Chevron 4"/>
          <p:cNvSpPr/>
          <p:nvPr/>
        </p:nvSpPr>
        <p:spPr>
          <a:xfrm>
            <a:off x="3108960" y="3429000"/>
            <a:ext cx="182880" cy="457200"/>
          </a:xfrm>
          <a:prstGeom prst="chevron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828800"/>
            <a:ext cx="2606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4A77A1"/>
                </a:solidFill>
                <a:latin typeface="Georgia"/>
              </a:rPr>
              <a:t>2. Cleansing</a:t>
            </a:r>
          </a:p>
          <a:p>
            <a:pPr>
              <a:spcAft>
                <a:spcPts val="1000"/>
              </a:spcAft>
            </a:pPr>
            <a:r>
              <a:rPr sz="1200" b="1" i="0">
                <a:solidFill>
                  <a:srgbClr val="182B49"/>
                </a:solidFill>
                <a:latin typeface="Arial"/>
              </a:rPr>
              <a:t>Date formatting &amp; data coercion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Parsing admission/discharge dates in day-first format to prevent stay errors. Clean Yes/No.</a:t>
            </a:r>
          </a:p>
        </p:txBody>
      </p:sp>
      <p:sp>
        <p:nvSpPr>
          <p:cNvPr id="7" name="Chevron 6"/>
          <p:cNvSpPr/>
          <p:nvPr/>
        </p:nvSpPr>
        <p:spPr>
          <a:xfrm>
            <a:off x="5989320" y="3429000"/>
            <a:ext cx="182880" cy="457200"/>
          </a:xfrm>
          <a:prstGeom prst="chevron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606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4A77A1"/>
                </a:solidFill>
                <a:latin typeface="Georgia"/>
              </a:rPr>
              <a:t>3. Aggregation</a:t>
            </a:r>
          </a:p>
          <a:p>
            <a:pPr>
              <a:spcAft>
                <a:spcPts val="1000"/>
              </a:spcAft>
            </a:pPr>
            <a:r>
              <a:rPr sz="1200" b="1" i="0">
                <a:solidFill>
                  <a:srgbClr val="182B49"/>
                </a:solidFill>
                <a:latin typeface="Arial"/>
              </a:rPr>
              <a:t>Numpy &amp; Pandas analytical groupbys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Targeted segmentation of costs, readmissions, stays, and regional patient distributions.</a:t>
            </a:r>
          </a:p>
        </p:txBody>
      </p:sp>
      <p:sp>
        <p:nvSpPr>
          <p:cNvPr id="9" name="Chevron 8"/>
          <p:cNvSpPr/>
          <p:nvPr/>
        </p:nvSpPr>
        <p:spPr>
          <a:xfrm>
            <a:off x="8869680" y="3429000"/>
            <a:ext cx="182880" cy="457200"/>
          </a:xfrm>
          <a:prstGeom prst="chevron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98280" y="1828800"/>
            <a:ext cx="2606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4A77A1"/>
                </a:solidFill>
                <a:latin typeface="Georgia"/>
              </a:rPr>
              <a:t>4. Visualization</a:t>
            </a:r>
          </a:p>
          <a:p>
            <a:pPr>
              <a:spcAft>
                <a:spcPts val="1000"/>
              </a:spcAft>
            </a:pPr>
            <a:r>
              <a:rPr sz="1200" b="1" i="0">
                <a:solidFill>
                  <a:srgbClr val="182B49"/>
                </a:solidFill>
                <a:latin typeface="Arial"/>
              </a:rPr>
              <a:t>Matplotlib graphic engine generation</a:t>
            </a:r>
          </a:p>
          <a:p>
            <a:r>
              <a:rPr sz="1100" b="0" i="0">
                <a:solidFill>
                  <a:srgbClr val="787878"/>
                </a:solidFill>
                <a:latin typeface="Arial"/>
              </a:rPr>
              <a:t>Creating labeled histograms and horizontal bar charts to convey clinical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 dirty="0">
                <a:solidFill>
                  <a:srgbClr val="182B49"/>
                </a:solidFill>
                <a:latin typeface="Georgia"/>
              </a:rPr>
              <a:t>Risk Management: Ensuring Patient Anonymization and Technical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Risk Category / Identifier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Severity &amp; Likelihood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Engineered Mitigation Strategy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Date Parsing Failures</a:t>
                      </a:r>
                    </a:p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(Mismatch in calendar format)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 dirty="0">
                          <a:solidFill>
                            <a:srgbClr val="DB5856"/>
                          </a:solidFill>
                          <a:latin typeface="Arial"/>
                        </a:rPr>
                        <a:t>Medium Likelihood</a:t>
                      </a:r>
                    </a:p>
                    <a:p>
                      <a:r>
                        <a:rPr sz="1200" b="0" i="1" dirty="0">
                          <a:solidFill>
                            <a:srgbClr val="DB5856"/>
                          </a:solidFill>
                          <a:latin typeface="Arial"/>
                        </a:rPr>
                        <a:t>Moderate Severity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Arial"/>
                        </a:rPr>
                        <a:t>Forced explicit day-first date formatting in Pandas to properly ingest diverse international dates without crashing stay metrics.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Patient Privacy Breach</a:t>
                      </a:r>
                    </a:p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(Regulatory non-compliance)</a:t>
                      </a:r>
                    </a:p>
                  </a:txBody>
                  <a:tcPr marT="91440" marB="9144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 dirty="0">
                          <a:solidFill>
                            <a:srgbClr val="DB5856"/>
                          </a:solidFill>
                          <a:latin typeface="Arial"/>
                        </a:rPr>
                        <a:t>Low Likelihood</a:t>
                      </a:r>
                    </a:p>
                    <a:p>
                      <a:r>
                        <a:rPr sz="1200" b="0" i="1" dirty="0">
                          <a:solidFill>
                            <a:srgbClr val="DB5856"/>
                          </a:solidFill>
                          <a:latin typeface="Arial"/>
                        </a:rPr>
                        <a:t>Critical Severity</a:t>
                      </a:r>
                    </a:p>
                  </a:txBody>
                  <a:tcPr marT="91440" marB="9144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Arial"/>
                        </a:rPr>
                        <a:t>Framework strictly utilizes synthetic clinical records with randomized IDs. Zero real-world PII or protected health information is processed.</a:t>
                      </a:r>
                    </a:p>
                  </a:txBody>
                  <a:tcPr marT="91440" marB="9144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Database Corruptions</a:t>
                      </a:r>
                    </a:p>
                    <a:p>
                      <a:r>
                        <a:rPr sz="1300" b="1" i="0">
                          <a:solidFill>
                            <a:srgbClr val="182B49"/>
                          </a:solidFill>
                          <a:latin typeface="Arial"/>
                        </a:rPr>
                        <a:t>(Accidental overwrites)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DB5856"/>
                          </a:solidFill>
                          <a:latin typeface="Arial"/>
                        </a:rPr>
                        <a:t>Low Likelihood</a:t>
                      </a:r>
                    </a:p>
                    <a:p>
                      <a:r>
                        <a:rPr sz="1200" b="0" i="1">
                          <a:solidFill>
                            <a:srgbClr val="DB5856"/>
                          </a:solidFill>
                          <a:latin typeface="Arial"/>
                        </a:rPr>
                        <a:t>High Severity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82B49"/>
                          </a:solidFill>
                          <a:latin typeface="Arial"/>
                        </a:rPr>
                        <a:t>Implemented pure in-memory cleansing logic. No source files are modified or overwritten during analytics execution.</a:t>
                      </a:r>
                    </a:p>
                  </a:txBody>
                  <a:tcPr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Comparative Analysis: Excel vs. Proprietary BI vs. Python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Dimension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Microsoft Excel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Enterprise BI (Tableau/PowerBI)</a:t>
                      </a:r>
                    </a:p>
                  </a:txBody>
                  <a:tcPr marT="91440" marB="9144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</a:rPr>
                        <a:t>Our Python Framework</a:t>
                      </a:r>
                    </a:p>
                  </a:txBody>
                  <a:tcPr marT="91440" marB="91440">
                    <a:solidFill>
                      <a:srgbClr val="2E8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82B49"/>
                          </a:solidFill>
                          <a:latin typeface="Arial"/>
                        </a:rPr>
                        <a:t>Licensing Cost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Commercial license fees required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High recurring, per-seat premium pricing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8B7D"/>
                          </a:solidFill>
                          <a:latin typeface="Arial"/>
                        </a:rPr>
                        <a:t>100% Free &amp; Open-Source (BSD/MIT)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82B49"/>
                          </a:solidFill>
                          <a:latin typeface="Arial"/>
                        </a:rPr>
                        <a:t>Data Limit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Hard ceiling of 1.04M rows; laggy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Scale limits dependent on server memory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8B7D"/>
                          </a:solidFill>
                          <a:latin typeface="Arial"/>
                        </a:rPr>
                        <a:t>Virtually unlimited row-size; memory-efficient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82B49"/>
                          </a:solidFill>
                          <a:latin typeface="Arial"/>
                        </a:rPr>
                        <a:t>Automation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Basic clunky macros; fragile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Scheduled triggers but rigid architectures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8B7D"/>
                          </a:solidFill>
                          <a:latin typeface="Arial"/>
                        </a:rPr>
                        <a:t>Full API-level automation; easily containerized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82B49"/>
                          </a:solidFill>
                          <a:latin typeface="Arial"/>
                        </a:rPr>
                        <a:t>Reproducibility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Highly vulnerable to manual manipulation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Static workbook structures; complex backups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8B7D"/>
                          </a:solidFill>
                          <a:latin typeface="Arial"/>
                        </a:rPr>
                        <a:t>Repeatable, self-documenting Jupyter Notebooks</a:t>
                      </a:r>
                    </a:p>
                  </a:txBody>
                  <a:tcPr marL="73152" marR="73152" marT="73152" marB="73152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82B49"/>
                          </a:solidFill>
                          <a:latin typeface="Arial"/>
                        </a:rPr>
                        <a:t>Visual Control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Highly restricted built-in templates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2B49"/>
                          </a:solidFill>
                          <a:latin typeface="Arial"/>
                        </a:rPr>
                        <a:t>Flexible widgets but hard to program custom layers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8B7D"/>
                          </a:solidFill>
                          <a:latin typeface="Arial"/>
                        </a:rPr>
                        <a:t>Pixel-perfect control with Matplotlib/Seaborn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4A77A1"/>
                </a:solidFill>
                <a:latin typeface="Arial"/>
              </a:rPr>
              <a:t>HOSPITAL PATIENT DATA ANALYSIS PROJECT</a:t>
            </a:r>
          </a:p>
          <a:p>
            <a:r>
              <a:rPr sz="2400" b="1" i="0">
                <a:solidFill>
                  <a:srgbClr val="182B49"/>
                </a:solidFill>
                <a:latin typeface="Georgia"/>
              </a:rPr>
              <a:t>Future Roadmap: Transitioning to Predictive Analysis &amp; Cloud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4A7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7A1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4A77A1"/>
                </a:solidFill>
                <a:latin typeface="Georgia"/>
              </a:rPr>
              <a:t>Phase 1: Predictive ML</a:t>
            </a:r>
          </a:p>
          <a:p>
            <a:r>
              <a:rPr sz="1300" b="0" i="0">
                <a:solidFill>
                  <a:srgbClr val="182B49"/>
                </a:solidFill>
                <a:latin typeface="Arial"/>
              </a:rPr>
              <a:t>Integrate Scikit-Learn into the existing codebase. Build predictive models to forecast readmission probability based on age, gender, and stay duration.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7D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2E8B7D"/>
                </a:solidFill>
                <a:latin typeface="Georgia"/>
              </a:rPr>
              <a:t>Phase 2: Cloud Ingestion</a:t>
            </a:r>
          </a:p>
          <a:p>
            <a:r>
              <a:rPr sz="1300" b="0" i="0">
                <a:solidFill>
                  <a:srgbClr val="182B49"/>
                </a:solidFill>
                <a:latin typeface="Arial"/>
              </a:rPr>
              <a:t>Migrate the data engineering pipeline from Jupyter local script to Streamlit or Plotly Dash for automated online rendering on clinical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383280" cy="4114800"/>
          </a:xfrm>
          <a:prstGeom prst="round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4A77A1"/>
                </a:solidFill>
                <a:latin typeface="Georgia"/>
              </a:rPr>
              <a:t>Phase 3: Live EHR APIs</a:t>
            </a:r>
          </a:p>
          <a:p>
            <a:r>
              <a:rPr sz="1300" b="0" i="0">
                <a:solidFill>
                  <a:srgbClr val="FFFFFF"/>
                </a:solidFill>
                <a:latin typeface="Arial"/>
              </a:rPr>
              <a:t>Incorporate live hospital database triggers (HL7 / FHIR APIs) to allow real-time clinical dashboards with auto-updating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Failure Points and Recovery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CDDC"/>
                </a:solidFill>
                <a:latin typeface="Aptos"/>
              </a:defRPr>
            </a:pPr>
            <a:r>
              <a:t>Protecting the offline analytical prototype from data loss and unauthorized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731520"/>
          </a:xfrm>
          <a:prstGeom prst="roundRect">
            <a:avLst/>
          </a:prstGeom>
          <a:solidFill>
            <a:srgbClr val="143446"/>
          </a:solidFill>
          <a:ln>
            <a:solidFill>
              <a:srgbClr val="377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500" b="1">
                <a:solidFill>
                  <a:srgbClr val="5BCDE6"/>
                </a:solidFill>
                <a:latin typeface="Aptos"/>
              </a:defRPr>
            </a:pPr>
            <a:r>
              <a:t>Single-point-of-failure</a:t>
            </a:r>
          </a:p>
          <a:p>
            <a:pPr>
              <a:defRPr sz="1200">
                <a:solidFill>
                  <a:srgbClr val="EBF3F6"/>
                </a:solidFill>
                <a:latin typeface="Aptos"/>
              </a:defRPr>
            </a:pPr>
            <a:r>
              <a:t>Local hospital.csv can be deleted or corrupted.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10881360" cy="731520"/>
          </a:xfrm>
          <a:prstGeom prst="roundRect">
            <a:avLst/>
          </a:prstGeom>
          <a:solidFill>
            <a:srgbClr val="143446"/>
          </a:solidFill>
          <a:ln>
            <a:solidFill>
              <a:srgbClr val="377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500" b="1">
                <a:solidFill>
                  <a:srgbClr val="5BCDE6"/>
                </a:solidFill>
                <a:latin typeface="Aptos"/>
              </a:defRPr>
            </a:pPr>
            <a:r>
              <a:t>Current limitation</a:t>
            </a:r>
          </a:p>
          <a:p>
            <a:pPr>
              <a:defRPr sz="1200">
                <a:solidFill>
                  <a:srgbClr val="EBF3F6"/>
                </a:solidFill>
                <a:latin typeface="Aptos"/>
              </a:defRPr>
            </a:pPr>
            <a:r>
              <a:t>No automated backup or restore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20440"/>
            <a:ext cx="10881360" cy="731520"/>
          </a:xfrm>
          <a:prstGeom prst="roundRect">
            <a:avLst/>
          </a:prstGeom>
          <a:solidFill>
            <a:srgbClr val="143446"/>
          </a:solidFill>
          <a:ln>
            <a:solidFill>
              <a:srgbClr val="377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500" b="1">
                <a:solidFill>
                  <a:srgbClr val="5BCDE6"/>
                </a:solidFill>
                <a:latin typeface="Aptos"/>
              </a:defRPr>
            </a:pPr>
            <a:r>
              <a:t>Risk</a:t>
            </a:r>
          </a:p>
          <a:p>
            <a:pPr>
              <a:defRPr sz="1200">
                <a:solidFill>
                  <a:srgbClr val="EBF3F6"/>
                </a:solidFill>
                <a:latin typeface="Aptos"/>
              </a:defRPr>
            </a:pPr>
            <a:r>
              <a:t>Data deletion, corruption, unauthorized modification, and privacy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10881360" cy="731520"/>
          </a:xfrm>
          <a:prstGeom prst="roundRect">
            <a:avLst/>
          </a:prstGeom>
          <a:solidFill>
            <a:srgbClr val="143446"/>
          </a:solidFill>
          <a:ln>
            <a:solidFill>
              <a:srgbClr val="377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500" b="1">
                <a:solidFill>
                  <a:srgbClr val="5BCDE6"/>
                </a:solidFill>
                <a:latin typeface="Aptos"/>
              </a:defRPr>
            </a:pPr>
            <a:r>
              <a:t>Recovery</a:t>
            </a:r>
          </a:p>
          <a:p>
            <a:pPr>
              <a:defRPr sz="1200">
                <a:solidFill>
                  <a:srgbClr val="EBF3F6"/>
                </a:solidFill>
                <a:latin typeface="Aptos"/>
              </a:defRPr>
            </a:pPr>
            <a:r>
              <a:t>Read-only raw file, separate cleaned file, versioned backups, and tested restoration.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10881360" cy="731520"/>
          </a:xfrm>
          <a:prstGeom prst="roundRect">
            <a:avLst/>
          </a:prstGeom>
          <a:solidFill>
            <a:srgbClr val="143446"/>
          </a:solidFill>
          <a:ln>
            <a:solidFill>
              <a:srgbClr val="377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500" b="1">
                <a:solidFill>
                  <a:srgbClr val="5BCDE6"/>
                </a:solidFill>
                <a:latin typeface="Aptos"/>
              </a:defRPr>
            </a:pPr>
            <a:r>
              <a:t>Production upgrade</a:t>
            </a:r>
          </a:p>
          <a:p>
            <a:pPr>
              <a:defRPr sz="1200">
                <a:solidFill>
                  <a:srgbClr val="EBF3F6"/>
                </a:solidFill>
                <a:latin typeface="Aptos"/>
              </a:defRPr>
            </a:pPr>
            <a:r>
              <a:t>Database, role-based access, encryption, audit logs, automated backups, and a disaster-recovery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CDDC"/>
                </a:solidFill>
                <a:latin typeface="Aptos"/>
              </a:defRPr>
            </a:pPr>
            <a:r>
              <a:t>Offline prototype: recovery controls are planned safeguards, not production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1313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Uddhav Joshi</cp:lastModifiedBy>
  <cp:revision>4</cp:revision>
  <dcterms:created xsi:type="dcterms:W3CDTF">2013-01-27T09:14:16Z</dcterms:created>
  <dcterms:modified xsi:type="dcterms:W3CDTF">2026-08-24T05:33:26Z</dcterms:modified>
  <cp:category/>
</cp:coreProperties>
</file>