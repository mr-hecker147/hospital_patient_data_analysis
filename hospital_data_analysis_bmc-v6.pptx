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1460175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2000" b="1">
                <a:solidFill>
                  <a:srgbClr val="F8FAFC"/>
                </a:solidFill>
                <a:latin typeface="Georgia"/>
              </a:defRPr>
            </a:pPr>
            <a:r>
              <a:t>BUSINESS MODEL CANVAS: HOSPITAL PATIENT DATA ANALYSIS</a:t>
            </a:r>
          </a:p>
          <a:p>
            <a:pPr>
              <a:defRPr sz="1100">
                <a:solidFill>
                  <a:srgbClr val="38BDF8"/>
                </a:solidFill>
                <a:latin typeface="Verdana"/>
              </a:defRPr>
            </a:pPr>
            <a:r>
              <a:t>Scalable Enterprise Healthcare Analytics &amp; Private Data Intelligence Platform  |  Team: Uddhav Joshi, Ujwal Dhebe, Shravani Gole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15568"/>
            <a:ext cx="2176272" cy="3794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2176272" cy="2926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1. KEY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527048"/>
            <a:ext cx="2029968" cy="180049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chemeClr val="bg1"/>
                </a:solidFill>
                <a:latin typeface="Verdana"/>
              </a:rPr>
              <a:t>• Hospital Execs &amp; CFOs</a:t>
            </a:r>
            <a:r>
              <a:rPr sz="850" b="1" dirty="0">
                <a:solidFill>
                  <a:schemeClr val="bg1"/>
                </a:solidFill>
                <a:latin typeface="Verdana"/>
              </a:rPr>
              <a:t>: </a:t>
            </a:r>
            <a:r>
              <a:rPr sz="900" dirty="0">
                <a:solidFill>
                  <a:srgbClr val="94A3B8"/>
                </a:solidFill>
                <a:latin typeface="Verdana"/>
              </a:rPr>
              <a:t>Primary enterprise sponsors and decision-makers.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F8FAFC"/>
                </a:solidFill>
                <a:latin typeface="Verdana"/>
              </a:rPr>
              <a:t>• EHR/EMR Integrators: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Partners for secure database &amp; pipeline connections.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F8FAFC"/>
                </a:solidFill>
                <a:latin typeface="Verdana"/>
              </a:rPr>
              <a:t>• Compliance Advisors: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Ensuring HIPAA/GDPR zero-leakage data governance.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F8FAFC"/>
                </a:solidFill>
                <a:latin typeface="Verdana"/>
              </a:rPr>
              <a:t>• Academic Research:</a:t>
            </a:r>
            <a:r>
              <a:rPr sz="850" b="1" dirty="0">
                <a:solidFill>
                  <a:srgbClr val="F8FAFC"/>
                </a:solidFill>
                <a:latin typeface="Verdana"/>
              </a:rPr>
              <a:t> </a:t>
            </a:r>
            <a:r>
              <a:rPr sz="800" dirty="0">
                <a:solidFill>
                  <a:srgbClr val="94A3B8"/>
                </a:solidFill>
                <a:latin typeface="Verdana"/>
              </a:rPr>
              <a:t>Baseline method validation &amp; initial dataset benchmarking.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33472" y="1152144"/>
            <a:ext cx="2176272" cy="188366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33472" y="1170432"/>
            <a:ext cx="2176272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2. KEY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8816" y="1463040"/>
            <a:ext cx="2029968" cy="1453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8FAFC"/>
                </a:solidFill>
                <a:latin typeface="Verdana"/>
              </a:rPr>
              <a:t>• Data Engineering: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Non-destructive cleaning, date parsing &amp; string normalization.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8FAFC"/>
                </a:solidFill>
                <a:latin typeface="Verdana"/>
              </a:rPr>
              <a:t>• Clinical &amp; Cost Audits: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Identifying high-cost conditions ($25k) &amp; readmissions (26.8%).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8FAFC"/>
                </a:solidFill>
                <a:latin typeface="Verdana"/>
              </a:rPr>
              <a:t>• Predictive Risk ML: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Developing stay-length and readmission forecast models.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ACC15"/>
                </a:solidFill>
                <a:latin typeface="Verdana"/>
              </a:rPr>
              <a:t>• Private Executive Reports: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Building custom, secure financial &amp; clinical dashboards.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3136392"/>
            <a:ext cx="2176272" cy="1801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33472" y="3127248"/>
            <a:ext cx="2176272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rPr dirty="0"/>
              <a:t>3. KEY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3456432"/>
            <a:ext cx="2029968" cy="1453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ACC15"/>
                </a:solidFill>
                <a:latin typeface="Verdana"/>
              </a:rPr>
              <a:t>• Core Analytics Engine: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Python 3.10+ stack (Pandas, NumPy, Matplotlib, Scikit-Learn).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ACC15"/>
                </a:solidFill>
                <a:latin typeface="Verdana"/>
              </a:rPr>
              <a:t>• Private Data Infra: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Isolated, HIPAA-compliant encryption &amp; execution sandbox.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8FAFC"/>
                </a:solidFill>
                <a:latin typeface="Verdana"/>
              </a:rPr>
              <a:t>• Project Team: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Uddhav Joshi, Ujwal </a:t>
            </a:r>
            <a:r>
              <a:rPr sz="800" dirty="0" err="1">
                <a:solidFill>
                  <a:srgbClr val="94A3B8"/>
                </a:solidFill>
                <a:latin typeface="Verdana"/>
              </a:rPr>
              <a:t>Dhebe</a:t>
            </a:r>
            <a:r>
              <a:rPr sz="800" dirty="0">
                <a:solidFill>
                  <a:srgbClr val="94A3B8"/>
                </a:solidFill>
                <a:latin typeface="Verdana"/>
              </a:rPr>
              <a:t>, Shravani Gole.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 dirty="0">
                <a:solidFill>
                  <a:srgbClr val="FACC15"/>
                </a:solidFill>
                <a:latin typeface="Verdana"/>
              </a:rPr>
              <a:t>• Hospital Dataset: </a:t>
            </a:r>
            <a:r>
              <a:rPr sz="800" dirty="0">
                <a:solidFill>
                  <a:srgbClr val="94A3B8"/>
                </a:solidFill>
                <a:latin typeface="Verdana"/>
              </a:rPr>
              <a:t>984 records x 15 clinical/financial parameters.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143000"/>
            <a:ext cx="2377440" cy="3794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92040" y="1170432"/>
            <a:ext cx="237744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4. VALUE PROPOSITIONS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554480"/>
            <a:ext cx="2240280" cy="3209796"/>
          </a:xfrm>
          <a:custGeom>
            <a:avLst/>
            <a:gdLst>
              <a:gd name="csX0" fmla="*/ 9144 w 2240280"/>
              <a:gd name="csY0" fmla="*/ 0 h 3209796"/>
              <a:gd name="csX1" fmla="*/ 2240280 w 2240280"/>
              <a:gd name="csY1" fmla="*/ 0 h 3209796"/>
              <a:gd name="csX2" fmla="*/ 2231136 w 2240280"/>
              <a:gd name="csY2" fmla="*/ 3191508 h 3209796"/>
              <a:gd name="csX3" fmla="*/ 0 w 2240280"/>
              <a:gd name="csY3" fmla="*/ 3209796 h 3209796"/>
              <a:gd name="csX4" fmla="*/ 9144 w 2240280"/>
              <a:gd name="csY4" fmla="*/ 0 h 320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40280" h="3209796">
                <a:moveTo>
                  <a:pt x="9144" y="0"/>
                </a:moveTo>
                <a:lnTo>
                  <a:pt x="2240280" y="0"/>
                </a:lnTo>
                <a:lnTo>
                  <a:pt x="2231136" y="3191508"/>
                </a:lnTo>
                <a:lnTo>
                  <a:pt x="0" y="3209796"/>
                </a:lnTo>
                <a:lnTo>
                  <a:pt x="9144" y="0"/>
                </a:lnTo>
                <a:close/>
              </a:path>
            </a:pathLst>
          </a:cu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FACC15"/>
                </a:solidFill>
              </a:rPr>
              <a:t>• Zero-License Overhead (Cost Savings): </a:t>
            </a:r>
            <a:r>
              <a:rPr sz="950" dirty="0">
                <a:solidFill>
                  <a:srgbClr val="94A3B8"/>
                </a:solidFill>
              </a:rPr>
              <a:t>100% open-source Python engine (Pandas, NumPy, Matplotlib) providing a cost-effective alternative to expensive enterprise BI software suites.</a:t>
            </a:r>
          </a:p>
          <a:p>
            <a:r>
              <a:rPr sz="1000" b="1" dirty="0">
                <a:solidFill>
                  <a:srgbClr val="F8FAFC"/>
                </a:solidFill>
              </a:rPr>
              <a:t>• Scalability &amp; Workflow Integration: </a:t>
            </a:r>
            <a:r>
              <a:rPr sz="950" dirty="0">
                <a:solidFill>
                  <a:srgbClr val="94A3B8"/>
                </a:solidFill>
              </a:rPr>
              <a:t>Transitions seamlessly from batch CSV uploads (984 records × 15 parameters) to live automated hospital data pipelines without clinical data-entry friction.</a:t>
            </a:r>
          </a:p>
          <a:p>
            <a:r>
              <a:rPr sz="1000" b="1" dirty="0">
                <a:solidFill>
                  <a:srgbClr val="F8FAFC"/>
                </a:solidFill>
              </a:rPr>
              <a:t>• Verified Clinical &amp; Cost Audits: </a:t>
            </a:r>
            <a:r>
              <a:rPr sz="950" dirty="0">
                <a:solidFill>
                  <a:srgbClr val="94A3B8"/>
                </a:solidFill>
              </a:rPr>
              <a:t>Audit trail flags key dataset parameters including 26.8% readmissions (264/984) and upper cost parameters ($25,000 for Cancer vs $100 min).</a:t>
            </a:r>
          </a:p>
          <a:p>
            <a:r>
              <a:rPr sz="1000" b="1" dirty="0">
                <a:solidFill>
                  <a:srgbClr val="F8FAFC"/>
                </a:solidFill>
              </a:rPr>
              <a:t>• Private Analytics &amp; Role Alignment: </a:t>
            </a:r>
            <a:r>
              <a:rPr sz="950" dirty="0">
                <a:solidFill>
                  <a:srgbClr val="94A3B8"/>
                </a:solidFill>
              </a:rPr>
              <a:t>Delivers encrypted, private reports for CFOs (cost tracking) &amp; Quality Directors while ensuring strict HIPAA/GDPR data security.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4" y="1143000"/>
            <a:ext cx="2176272" cy="18928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1170432"/>
            <a:ext cx="2176272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5. CUSTOMER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1554480"/>
            <a:ext cx="2029968" cy="1453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Dedicated Support: </a:t>
            </a:r>
            <a:r>
              <a:rPr sz="800">
                <a:solidFill>
                  <a:srgbClr val="94A3B8"/>
                </a:solidFill>
                <a:latin typeface="Verdana"/>
              </a:rPr>
              <a:t>Custom executive report design &amp; consulting.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Strict Data Privacy SLAs: </a:t>
            </a:r>
            <a:r>
              <a:rPr sz="800">
                <a:solidFill>
                  <a:srgbClr val="94A3B8"/>
                </a:solidFill>
                <a:latin typeface="Verdana"/>
              </a:rPr>
              <a:t>Guaranteed confidentiality &amp; HIPAA data security.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Continuous Optimization: </a:t>
            </a:r>
            <a:r>
              <a:rPr sz="800">
                <a:solidFill>
                  <a:srgbClr val="94A3B8"/>
                </a:solidFill>
                <a:latin typeface="Verdana"/>
              </a:rPr>
              <a:t>Regular algorithm recalibration based on clinical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0064" y="3136392"/>
            <a:ext cx="2176272" cy="1801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70064" y="3136392"/>
            <a:ext cx="2176272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6.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3456432"/>
            <a:ext cx="2029968" cy="1453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Direct B2B Sales: </a:t>
            </a:r>
            <a:r>
              <a:rPr sz="800">
                <a:solidFill>
                  <a:srgbClr val="94A3B8"/>
                </a:solidFill>
                <a:latin typeface="Verdana"/>
              </a:rPr>
              <a:t>Reaching hospital CFOs, directors &amp; clinical chiefs.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Encrypted Upload Portal: </a:t>
            </a:r>
            <a:r>
              <a:rPr sz="800">
                <a:solidFill>
                  <a:srgbClr val="94A3B8"/>
                </a:solidFill>
                <a:latin typeface="Verdana"/>
              </a:rPr>
              <a:t>Secure endpoint for sensitive data transmission.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Executive Briefings: </a:t>
            </a:r>
            <a:r>
              <a:rPr sz="800">
                <a:solidFill>
                  <a:srgbClr val="94A3B8"/>
                </a:solidFill>
                <a:latin typeface="Verdana"/>
              </a:rPr>
              <a:t>Interactive, data-driven presentation decks.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1143000"/>
            <a:ext cx="2185416" cy="3794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46920" y="1170432"/>
            <a:ext cx="2185416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7. CUSTOMER SEGMENTS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554480"/>
            <a:ext cx="2039112" cy="33558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ACC15"/>
                </a:solidFill>
                <a:latin typeface="Verdana"/>
              </a:rPr>
              <a:t>• Hospitals &amp; Clinics: </a:t>
            </a:r>
            <a:r>
              <a:rPr sz="800">
                <a:solidFill>
                  <a:srgbClr val="94A3B8"/>
                </a:solidFill>
                <a:latin typeface="Verdana"/>
              </a:rPr>
              <a:t>Healthcare centers seeking cost control &amp; quality auditing.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Chief Financial Officers: </a:t>
            </a:r>
            <a:r>
              <a:rPr sz="800">
                <a:solidFill>
                  <a:srgbClr val="94A3B8"/>
                </a:solidFill>
                <a:latin typeface="Verdana"/>
              </a:rPr>
              <a:t>Executives optimizing revenue cycles &amp; insurance claims.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Clinical Quality Directors: </a:t>
            </a:r>
            <a:r>
              <a:rPr sz="800">
                <a:solidFill>
                  <a:srgbClr val="94A3B8"/>
                </a:solidFill>
                <a:latin typeface="Verdana"/>
              </a:rPr>
              <a:t>Medical chiefs targeting readmission reduction &amp; care quality.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029200"/>
            <a:ext cx="5586984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5029200"/>
            <a:ext cx="5586984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8. COST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5349240"/>
            <a:ext cx="5440680" cy="1161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Secure Cloud &amp; Compute Infrastructure: </a:t>
            </a:r>
            <a:r>
              <a:rPr sz="800">
                <a:solidFill>
                  <a:srgbClr val="94A3B8"/>
                </a:solidFill>
                <a:latin typeface="Verdana"/>
              </a:rPr>
              <a:t>Encrypted servers &amp; isolated processing sandboxes for patient data.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R&amp;D &amp; Model Engineering: </a:t>
            </a:r>
            <a:r>
              <a:rPr sz="800">
                <a:solidFill>
                  <a:srgbClr val="94A3B8"/>
                </a:solidFill>
                <a:latin typeface="Verdana"/>
              </a:rPr>
              <a:t>Continuous refinement of data cleaning, predictive algorithms &amp; reporting tools.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Compliance &amp; Security Audits: </a:t>
            </a:r>
            <a:r>
              <a:rPr sz="800">
                <a:solidFill>
                  <a:srgbClr val="94A3B8"/>
                </a:solidFill>
                <a:latin typeface="Verdana"/>
              </a:rPr>
              <a:t>Maintaining strict HIPAA/GDPR data privacy and security standards.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4184" y="5029200"/>
            <a:ext cx="5779008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44184" y="5029200"/>
            <a:ext cx="5779008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8FAFC"/>
                </a:solidFill>
                <a:latin typeface="Verdana"/>
              </a:defRPr>
            </a:pPr>
            <a:r>
              <a:t>9. REVENUE STREAMS (SCALED ENTERPRISE MODEL)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7336" y="5349240"/>
            <a:ext cx="5632704" cy="1161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ACC15"/>
                </a:solidFill>
                <a:latin typeface="Verdana"/>
              </a:rPr>
              <a:t>• Private Hospital Analytics Contracts: </a:t>
            </a:r>
            <a:r>
              <a:rPr sz="800">
                <a:solidFill>
                  <a:srgbClr val="94A3B8"/>
                </a:solidFill>
                <a:latin typeface="Verdana"/>
              </a:rPr>
              <a:t>Hospitals pay for custom analysis of sensitive internal data, kept strictly private with executive reports delivered back.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Enterprise Subscription Tier: </a:t>
            </a:r>
            <a:r>
              <a:rPr sz="800">
                <a:solidFill>
                  <a:srgbClr val="94A3B8"/>
                </a:solidFill>
                <a:latin typeface="Verdana"/>
              </a:rPr>
              <a:t>Recurring revenue for automated monthly clinical, financial &amp; readmission audits.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8FAFC"/>
                </a:solidFill>
                <a:latin typeface="Verdana"/>
              </a:rPr>
              <a:t>• Predictive Integration Services: </a:t>
            </a:r>
            <a:r>
              <a:rPr sz="800">
                <a:solidFill>
                  <a:srgbClr val="94A3B8"/>
                </a:solidFill>
                <a:latin typeface="Verdana"/>
              </a:rPr>
              <a:t>Deployment fees for custom ML readmission &amp; stay-length forecasting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579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Uddhav Joshi</cp:lastModifiedBy>
  <cp:revision>2</cp:revision>
  <dcterms:created xsi:type="dcterms:W3CDTF">2013-01-27T09:14:16Z</dcterms:created>
  <dcterms:modified xsi:type="dcterms:W3CDTF">2026-10-05T04:32:10Z</dcterms:modified>
  <cp:category/>
</cp:coreProperties>
</file>